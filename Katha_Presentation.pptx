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182880"/>
            <a:ext cx="621792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0" dirty="0">
                <a:solidFill>
                  <a:srgbClr val="261C15"/>
                </a:solidFill>
              </a:rPr>
              <a:t>ॐ</a:t>
            </a:r>
            <a:endParaRPr lang="en-US" sz="39000" dirty="0"/>
          </a:p>
        </p:txBody>
      </p:sp>
      <p:sp>
        <p:nvSpPr>
          <p:cNvPr id="5" name="Shape 3"/>
          <p:cNvSpPr/>
          <p:nvPr/>
        </p:nvSpPr>
        <p:spPr>
          <a:xfrm>
            <a:off x="804672" y="1005840"/>
            <a:ext cx="45720" cy="4754880"/>
          </a:xfrm>
          <a:prstGeom prst="rect">
            <a:avLst/>
          </a:prstGeom>
          <a:solidFill>
            <a:srgbClr val="EC6D13">
              <a:alpha val="65000"/>
            </a:srgbClr>
          </a:solidFill>
          <a:ln w="12700">
            <a:solidFill>
              <a:srgbClr val="EC6D13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0058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spc="1400" kern="0" dirty="0">
                <a:solidFill>
                  <a:srgbClr val="EC6D13"/>
                </a:solidFill>
              </a:rPr>
              <a:t>KATHA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F5EFE0"/>
                </a:solidFill>
              </a:rPr>
              <a:t>Smart Cultural Storyteller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05840" y="3218688"/>
            <a:ext cx="7315200" cy="0"/>
          </a:xfrm>
          <a:prstGeom prst="line">
            <a:avLst/>
          </a:prstGeom>
          <a:noFill/>
          <a:ln w="9525">
            <a:solidFill>
              <a:srgbClr val="EC6D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8A7A"/>
                </a:solidFill>
              </a:rPr>
              <a:t>Bringing Ancient Indian Epics to Life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A8A7A"/>
                </a:solidFill>
              </a:rPr>
              <a:t>for the Gen Z Digital Native Generation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4572000"/>
            <a:ext cx="2382012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572000"/>
            <a:ext cx="23820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React 18 + TypeScript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4572000"/>
            <a:ext cx="2382012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4572000"/>
            <a:ext cx="23820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FastAPI + Python 3.11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0" y="4572000"/>
            <a:ext cx="2189988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572000"/>
            <a:ext cx="21899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ElevenLabs AI Audio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26680" y="4572000"/>
            <a:ext cx="1997964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4572000"/>
            <a:ext cx="19979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Pollinations Flux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418320" y="4572000"/>
            <a:ext cx="2670048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4572000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Docker + Render + Vercel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" y="5138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Shrishti Singh  ·  B.Tech CSE (AI/ML), 3rd Year  ·  CSMU Panvel, Navi Mumbai  ·  AI Minor @ IIT Ropar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542239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shrishtis089@gmail.com  ·  github.com/shru089/katha-smart-storyteller  ·  May 2026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5840" y="6080760"/>
            <a:ext cx="3383280" cy="246888"/>
          </a:xfrm>
          <a:prstGeom prst="roundRect">
            <a:avLst/>
          </a:prstGeom>
          <a:solidFill>
            <a:srgbClr val="60A5FA">
              <a:alpha val="18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60807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</a:rPr>
              <a:t>Jan 2026 — Initial Release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6080760"/>
            <a:ext cx="3383280" cy="246888"/>
          </a:xfrm>
          <a:prstGeom prst="roundRect">
            <a:avLst/>
          </a:prstGeom>
          <a:solidFill>
            <a:srgbClr val="22C55E">
              <a:alpha val="18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60807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May 2026 — v1.1.0-beta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503920" y="6080760"/>
            <a:ext cx="3383280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60807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14 Commits  ·  5 Sprints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1805940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805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01  THE PROBLEM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Gen Z is Disconnected from Cultural Heritage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Ancient Indian epics exist. Engagement doesn't.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7132320" cy="86868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36192"/>
            <a:ext cx="45720" cy="868680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FE0"/>
                </a:solidFill>
              </a:rPr>
              <a:t>Language Barriers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88720" y="185623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Archaic Sanskrit &amp; classical translations limit comprehension for modern readers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7132320" cy="86868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05456"/>
            <a:ext cx="45720" cy="868680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0545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😴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25694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FE0"/>
                </a:solidFill>
              </a:rPr>
              <a:t>Passive Consumption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88720" y="282549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Static text cannot compete with Netflix, YouTube, TikTok — Gen Z's baseline expectation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7132320" cy="86868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74720"/>
            <a:ext cx="45720" cy="868680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747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35387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FE0"/>
                </a:solidFill>
              </a:rPr>
              <a:t>No Gamification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88720" y="379476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Zero XP, streaks, or rewards — no motivational scaffolding for continued engagement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443984"/>
            <a:ext cx="7132320" cy="86868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443984"/>
            <a:ext cx="45720" cy="868680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44398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188720" y="45079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FE0"/>
                </a:solidFill>
              </a:rPr>
              <a:t>Cultural Disconnect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88720" y="476402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Without context, Ramayana &amp; Mahabharata feel irrelevant to contemporary daily life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413248"/>
            <a:ext cx="7132320" cy="86868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5413248"/>
            <a:ext cx="45720" cy="868680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41324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🔇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188720" y="54772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EFE0"/>
                </a:solidFill>
              </a:rPr>
              <a:t>No Personalization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88720" y="573328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One-size-fits-all presentation fails to establish personal emotional resonance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09560" y="1536192"/>
            <a:ext cx="3840480" cy="19202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09560" y="16002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0" b="1" dirty="0">
                <a:solidFill>
                  <a:srgbClr val="EC6D13"/>
                </a:solidFill>
              </a:rPr>
              <a:t>8s</a:t>
            </a:r>
            <a:endParaRPr lang="en-US" sz="10500" dirty="0"/>
          </a:p>
        </p:txBody>
      </p:sp>
      <p:sp>
        <p:nvSpPr>
          <p:cNvPr id="35" name="Text 33"/>
          <p:cNvSpPr/>
          <p:nvPr/>
        </p:nvSpPr>
        <p:spPr>
          <a:xfrm>
            <a:off x="7909560" y="26974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A7A"/>
                </a:solidFill>
              </a:rPr>
              <a:t>Gen Z avg. attention span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8A7A"/>
                </a:solidFill>
              </a:rPr>
              <a:t>before disengaging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09560" y="3547872"/>
            <a:ext cx="3840480" cy="164592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909560" y="360273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B233"/>
                </a:solidFill>
              </a:rPr>
              <a:t>73%</a:t>
            </a:r>
            <a:endParaRPr lang="en-US" sz="7200" dirty="0"/>
          </a:p>
        </p:txBody>
      </p:sp>
      <p:sp>
        <p:nvSpPr>
          <p:cNvPr id="38" name="Text 36"/>
          <p:cNvSpPr/>
          <p:nvPr/>
        </p:nvSpPr>
        <p:spPr>
          <a:xfrm>
            <a:off x="7909560" y="45354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8A7A"/>
                </a:solidFill>
              </a:rPr>
              <a:t>youth report feeling culturally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8A7A"/>
                </a:solidFill>
              </a:rPr>
              <a:t>disconnected from epics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909560" y="5285232"/>
            <a:ext cx="3840480" cy="10058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909560" y="5349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0"/>
                </a:solidFill>
              </a:rPr>
              <a:t>Traditional formats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EFE0"/>
                </a:solidFill>
              </a:rPr>
              <a:t>have failed for decades.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1901952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02  THE SOLUTION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Katha: Duolingo × Netflix × AI Storytelling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One platform. Ancient wisdom. Digital-native delivery.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9525">
            <a:solidFill>
              <a:srgbClr val="EC6D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89888"/>
            <a:ext cx="3749040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898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📚  Reimagined Content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1865376"/>
            <a:ext cx="3749040" cy="297180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029968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975104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Epics reframed in Gen Z vocabulary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724912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670048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Bhagavad Gita = 'tournament burnout scenario'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364992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Dark aesthetic — glassmorphism UI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059936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Bilingual Hindi + English UI throughout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70832" y="1389888"/>
            <a:ext cx="374904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13898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🎮  RPG Gamification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370832" y="1865376"/>
            <a:ext cx="3749040" cy="297180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53712" y="2029968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975104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4 Archetypes: Warrior/Sage/Seeker/Guardian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53712" y="272491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670048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XP system + daily reading streaks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53712" y="3419856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364992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20+ dynamic badges with unlock conditions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53712" y="411480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059936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Personality quiz onboarding flow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84464" y="1389888"/>
            <a:ext cx="3749040" cy="47548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21624" y="13898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🤖  Multi-Modal AI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8284464" y="1865376"/>
            <a:ext cx="3749040" cy="297180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67344" y="2029968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68512" y="1975104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ElevenLabs v2 emotion-aware narration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467344" y="2724912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68512" y="2670048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9 Rasa mood-to-audio mappings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467344" y="3419856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68512" y="3364992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Pollinations Flux image generation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467344" y="4114800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68512" y="4059936"/>
            <a:ext cx="3227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898"/>
                </a:solidFill>
              </a:rPr>
              <a:t>Edge-TTS zero-cost fallback + Pydub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4956048"/>
            <a:ext cx="11247120" cy="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047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6D13"/>
                </a:solidFill>
              </a:rPr>
              <a:t>Also includes: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321808"/>
            <a:ext cx="2798064" cy="89611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" y="53949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FE0"/>
                </a:solidFill>
              </a:rPr>
              <a:t>🗺️ Interactive Sacred Map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4360" y="566013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Leaflet — Ayodhya, Lanka, Kurukshetra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83280" y="5321808"/>
            <a:ext cx="2798064" cy="89611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520440" y="53949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FE0"/>
                </a:solidFill>
              </a:rPr>
              <a:t>📖 Novel + Webtoon Reader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520440" y="566013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Drop-cap serif + full-bleed AI visuals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5321808"/>
            <a:ext cx="2798064" cy="89611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46520" y="53949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FE0"/>
                </a:solidFill>
              </a:rPr>
              <a:t>🤖 Rishi AI Oracle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46520" y="566013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In-scene cultural Q&amp;A chatbot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235440" y="5321808"/>
            <a:ext cx="2798064" cy="89611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372600" y="53949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FE0"/>
                </a:solidFill>
              </a:rPr>
              <a:t>🔐 JWT Auth + Profiles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372600" y="566013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Full user management + progress sync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286000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03  TECHNOLOGY STACK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Full-Stack Architecture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React 18 · FastAPI · SQLModel · Docker · ElevenLabs · Pollinations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" cy="80467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417320"/>
            <a:ext cx="6995160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1508760"/>
            <a:ext cx="674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FRONTEND — React 18 + TypeScript + Vite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1801368"/>
            <a:ext cx="6748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TailwindCSS  ·  Framer Motion  ·  React Router v6  ·  Axios + JWT interceptors  ·  Leaflet  ·  React-Hot-Toast  ·  Lucide React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54864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450592"/>
            <a:ext cx="6995160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2542032"/>
            <a:ext cx="674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BACKEND — FastAPI (Python 3.11) + Uvicorn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2834640"/>
            <a:ext cx="6748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SQLModel + SQLAlchemy  ·  Pydantic v2  ·  python-jose (JWT)  ·  bcrypt  ·  httpx  ·  Uvicorn ASGI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83864"/>
            <a:ext cx="54864" cy="804672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483864"/>
            <a:ext cx="6995160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3575304"/>
            <a:ext cx="674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DATABASE — SQLite → PostgreSQL (production)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3867912"/>
            <a:ext cx="6748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8 entities: User, Story, Chapter, Scene, Badge, UserBadge, UserSceneProgress, Location  ·  Full FK relationships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517136"/>
            <a:ext cx="54864" cy="804672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4517136"/>
            <a:ext cx="6995160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4608576"/>
            <a:ext cx="674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AI SERVICES — Multi-modal generation pipeline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9808" y="4901184"/>
            <a:ext cx="6748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ElevenLabs v2 Multilingual TTS  ·  Edge-TTS fallback  ·  Pollinations Flux Realism (images)  ·  Pydub + FFmpeg (audio processing)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50408"/>
            <a:ext cx="54864" cy="804672"/>
          </a:xfrm>
          <a:prstGeom prst="rect">
            <a:avLst/>
          </a:prstGeom>
          <a:solidFill>
            <a:srgbClr val="9A8A7A"/>
          </a:solidFill>
          <a:ln w="12700">
            <a:solidFill>
              <a:srgbClr val="9A8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5550408"/>
            <a:ext cx="6995160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5641848"/>
            <a:ext cx="674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DEPLOYMENT — Docker + Render + Vercel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9808" y="5934456"/>
            <a:ext cx="6748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Multi-stage Dockerfile with apt-get ffmpeg install  ·  render.yaml blueprint  ·  Vercel CDN (SPA rewrites)  ·  Nginx reverse proxy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09560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6D13"/>
                </a:solidFill>
              </a:rPr>
              <a:t>By the Numbers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09560" y="1783080"/>
            <a:ext cx="1874520" cy="12344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82712" y="18745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B233"/>
                </a:solidFill>
              </a:rPr>
              <a:t>8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7982712" y="25877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DB Entities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921240" y="1783080"/>
            <a:ext cx="1874520" cy="12344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994392" y="18745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0A5FA"/>
                </a:solidFill>
              </a:rPr>
              <a:t>6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9994392" y="25877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API Routers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09560" y="3154680"/>
            <a:ext cx="1874520" cy="12344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82712" y="32461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C6D13"/>
                </a:solidFill>
              </a:rPr>
              <a:t>9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7982712" y="39593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AI Rasa Moods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921240" y="3154680"/>
            <a:ext cx="1874520" cy="12344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994392" y="32461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</a:rPr>
              <a:t>30+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9994392" y="39593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React Components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909560" y="4526280"/>
            <a:ext cx="1874520" cy="12344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982712" y="46177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78BFA"/>
                </a:solidFill>
              </a:rPr>
              <a:t>14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7982712" y="5330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npm Packages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921240" y="4526280"/>
            <a:ext cx="1874520" cy="12344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994392" y="46177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C4899"/>
                </a:solidFill>
              </a:rPr>
              <a:t>5</a:t>
            </a:r>
            <a:endParaRPr lang="en-US" sz="4200" dirty="0"/>
          </a:p>
        </p:txBody>
      </p:sp>
      <p:sp>
        <p:nvSpPr>
          <p:cNvPr id="46" name="Text 44"/>
          <p:cNvSpPr/>
          <p:nvPr/>
        </p:nvSpPr>
        <p:spPr>
          <a:xfrm>
            <a:off x="9994392" y="5330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Agile Sprints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📅  Jan 16 — Initial commit  ›  Jan 17 — MVP + Docker + Render deploy  ›  May 17, 2026 — v1.1.0-beta: ElevenLabs emotion audio + Gen Z storytelling upgrade  ›  14 total commits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3246120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04  SOFTWARE ENGINEERING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Agile Iterative Development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Solo developer · Discovery-driven · Demo-ready each sprint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9525">
            <a:solidFill>
              <a:srgbClr val="EC6D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6D13"/>
                </a:solidFill>
              </a:rPr>
              <a:t>Why Agile?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47088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AI API capabilities must be discovered iteratively — impossible to plan upfront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78024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423160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UI/UX polish requires rapid visual feedback loops every 1–2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54096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99232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ElevenLabs rate limits &amp; costs required early hands-on experimentation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30168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75304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Solo developer → lightweight overhead is essential, not optional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206240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151376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Every sprint produces a demo-ready build with portfolio value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73168"/>
            <a:ext cx="2011680" cy="2926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73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Factor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87168" y="4773168"/>
            <a:ext cx="3017520" cy="2926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87168" y="4773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Agile 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22976" y="4773168"/>
            <a:ext cx="594360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4773168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Waterfall ❌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7200" y="5065776"/>
            <a:ext cx="2011680" cy="3657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5111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EFE0"/>
                </a:solidFill>
              </a:rPr>
              <a:t>Requirements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87168" y="5065776"/>
            <a:ext cx="2999232" cy="3657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78608" y="511149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Evolving — discovered via AI testing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04688" y="5065776"/>
            <a:ext cx="603504" cy="3657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04688" y="511149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468112"/>
            <a:ext cx="2011680" cy="365760"/>
          </a:xfrm>
          <a:prstGeom prst="rect">
            <a:avLst/>
          </a:prstGeom>
          <a:solidFill>
            <a:srgbClr val="261C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513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EFE0"/>
                </a:solidFill>
              </a:rPr>
              <a:t>Feedback Loop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87168" y="5468112"/>
            <a:ext cx="2999232" cy="365760"/>
          </a:xfrm>
          <a:prstGeom prst="rect">
            <a:avLst/>
          </a:prstGeom>
          <a:solidFill>
            <a:srgbClr val="261C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78608" y="551383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Continuous self-testing each session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04688" y="5468112"/>
            <a:ext cx="603504" cy="365760"/>
          </a:xfrm>
          <a:prstGeom prst="rect">
            <a:avLst/>
          </a:prstGeom>
          <a:solidFill>
            <a:srgbClr val="261C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04688" y="55138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5870448"/>
            <a:ext cx="2011680" cy="3657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8640" y="5916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EFE0"/>
                </a:solidFill>
              </a:rPr>
              <a:t>Risk mitigation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87168" y="5870448"/>
            <a:ext cx="2999232" cy="3657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578608" y="591616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Per-sprint — AI API costs caught early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04688" y="5870448"/>
            <a:ext cx="603504" cy="3657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504688" y="59161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6272784"/>
            <a:ext cx="2011680" cy="365760"/>
          </a:xfrm>
          <a:prstGeom prst="rect">
            <a:avLst/>
          </a:prstGeom>
          <a:solidFill>
            <a:srgbClr val="261C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" y="6318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EFE0"/>
                </a:solidFill>
              </a:rPr>
              <a:t>Deliverables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87168" y="6272784"/>
            <a:ext cx="2999232" cy="365760"/>
          </a:xfrm>
          <a:prstGeom prst="rect">
            <a:avLst/>
          </a:prstGeom>
          <a:solidFill>
            <a:srgbClr val="261C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578608" y="631850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Working software every sprint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504688" y="6272784"/>
            <a:ext cx="603504" cy="365760"/>
          </a:xfrm>
          <a:prstGeom prst="rect">
            <a:avLst/>
          </a:prstGeom>
          <a:solidFill>
            <a:srgbClr val="261C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504688" y="631850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92240" y="1371600"/>
            <a:ext cx="0" cy="544068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6D13"/>
                </a:solidFill>
              </a:rPr>
              <a:t>5-Sprint Timeline (Jan – May 2026)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675120" y="1856232"/>
            <a:ext cx="475488" cy="47548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912864" y="2331720"/>
            <a:ext cx="0" cy="493776"/>
          </a:xfrm>
          <a:prstGeom prst="line">
            <a:avLst/>
          </a:prstGeom>
          <a:noFill/>
          <a:ln w="15240">
            <a:solidFill>
              <a:srgbClr val="3A2A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78624" y="1856232"/>
            <a:ext cx="4608576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406640" y="1911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Foundation &amp; Core API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515600" y="1911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Jan 16–17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406640" y="22037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FastAPI + SQLModel + JWT + React scaffold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75120" y="2825496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912864" y="3300984"/>
            <a:ext cx="0" cy="493776"/>
          </a:xfrm>
          <a:prstGeom prst="line">
            <a:avLst/>
          </a:prstGeom>
          <a:noFill/>
          <a:ln w="15240">
            <a:solidFill>
              <a:srgbClr val="3A2A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78624" y="2825496"/>
            <a:ext cx="4608576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406640" y="2880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AI Audio Pipeline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515600" y="2880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Jan – Feb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406640" y="31729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ElevenLabs + Edge-TTS + Pydub + Parser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675120" y="3794760"/>
            <a:ext cx="475488" cy="475488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75120" y="3794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6912864" y="4270248"/>
            <a:ext cx="0" cy="493776"/>
          </a:xfrm>
          <a:prstGeom prst="line">
            <a:avLst/>
          </a:prstGeom>
          <a:noFill/>
          <a:ln w="15240">
            <a:solidFill>
              <a:srgbClr val="3A2A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78624" y="3794760"/>
            <a:ext cx="4608576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406640" y="3849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Visual &amp; Map Systems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0515600" y="38496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B233"/>
                </a:solidFill>
              </a:rPr>
              <a:t>Feb – Mar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406640" y="41422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Pollinations Flux + Leaflet + 9:16 reels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675120" y="4764024"/>
            <a:ext cx="475488" cy="475488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75120" y="4764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S4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6912864" y="5239512"/>
            <a:ext cx="0" cy="493776"/>
          </a:xfrm>
          <a:prstGeom prst="line">
            <a:avLst/>
          </a:prstGeom>
          <a:noFill/>
          <a:ln w="15240">
            <a:solidFill>
              <a:srgbClr val="3A2A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78624" y="4764024"/>
            <a:ext cx="4608576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7406640" y="48188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Gamification &amp; UX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10515600" y="4818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C6D13"/>
                </a:solidFill>
              </a:rPr>
              <a:t>Mar – Apr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406640" y="51114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Archetype quiz + XP/Badge + Framer Motion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675120" y="5733288"/>
            <a:ext cx="475488" cy="47548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75120" y="5733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S5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7278624" y="5733288"/>
            <a:ext cx="4608576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7406640" y="5788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Polish &amp; Deploy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10515600" y="5788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C4899"/>
                </a:solidFill>
              </a:rPr>
              <a:t>May 2026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7406640" y="60807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Docker + Render + Vercel + Gen Z rewriting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1805940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805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05  GANTT CHART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Project Timeline — Jan 16 to May 17, 2026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14 commits  ·  5 sprints  ·  4 months active development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4096512" cy="374904"/>
          </a:xfrm>
          <a:prstGeom prst="rect">
            <a:avLst/>
          </a:prstGeom>
          <a:solidFill>
            <a:srgbClr val="EC6D13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344168"/>
            <a:ext cx="3913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Task / Phase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298448"/>
            <a:ext cx="1207008" cy="374904"/>
          </a:xfrm>
          <a:prstGeom prst="rect">
            <a:avLst/>
          </a:prstGeom>
          <a:solidFill>
            <a:srgbClr val="EC6D13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344168"/>
            <a:ext cx="1207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Jan W1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70448" y="1298448"/>
            <a:ext cx="1207008" cy="374904"/>
          </a:xfrm>
          <a:prstGeom prst="rect">
            <a:avLst/>
          </a:prstGeom>
          <a:solidFill>
            <a:srgbClr val="EC6D13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344168"/>
            <a:ext cx="1207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Jan W2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23176" y="1298448"/>
            <a:ext cx="1207008" cy="374904"/>
          </a:xfrm>
          <a:prstGeom prst="rect">
            <a:avLst/>
          </a:prstGeom>
          <a:solidFill>
            <a:srgbClr val="EC6D13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23176" y="1344168"/>
            <a:ext cx="1207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75904" y="1298448"/>
            <a:ext cx="1207008" cy="374904"/>
          </a:xfrm>
          <a:prstGeom prst="rect">
            <a:avLst/>
          </a:prstGeom>
          <a:solidFill>
            <a:srgbClr val="EC6D13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75904" y="1344168"/>
            <a:ext cx="1207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28632" y="1298448"/>
            <a:ext cx="1207008" cy="374904"/>
          </a:xfrm>
          <a:prstGeom prst="rect">
            <a:avLst/>
          </a:prstGeom>
          <a:solidFill>
            <a:srgbClr val="EC6D13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28632" y="1344168"/>
            <a:ext cx="1207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881360" y="1298448"/>
            <a:ext cx="1207008" cy="374904"/>
          </a:xfrm>
          <a:prstGeom prst="rect">
            <a:avLst/>
          </a:prstGeom>
          <a:solidFill>
            <a:srgbClr val="EC6D13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881360" y="1344168"/>
            <a:ext cx="1207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1673352"/>
            <a:ext cx="4096512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" y="170992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Project Setup &amp; Architecture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67335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1746504"/>
            <a:ext cx="1060704" cy="228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70448" y="167335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1746504"/>
            <a:ext cx="1060704" cy="228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23176" y="167335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75904" y="167335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28632" y="167335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881360" y="167335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2048256"/>
            <a:ext cx="4096512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6928" y="208483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Database Schema Design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204825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0872" y="2121408"/>
            <a:ext cx="1060704" cy="228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70448" y="204825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0" y="2121408"/>
            <a:ext cx="1060704" cy="228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23176" y="204825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75904" y="204825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28632" y="204825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881360" y="204825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2423160"/>
            <a:ext cx="4096512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6928" y="2459736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FastAPI Backend + JWT Auth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17720" y="2423160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870448" y="2423160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43600" y="2496312"/>
            <a:ext cx="1060704" cy="228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123176" y="2423160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196328" y="2496312"/>
            <a:ext cx="1060704" cy="228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375904" y="2423160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628632" y="2423160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881360" y="2423160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" y="2798064"/>
            <a:ext cx="4096512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66928" y="283464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ElevenLabs AI Audio Pipeline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17720" y="2798064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870448" y="2798064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23176" y="2798064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196328" y="2871216"/>
            <a:ext cx="106070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375904" y="2798064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449056" y="2871216"/>
            <a:ext cx="106070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628632" y="2798064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881360" y="2798064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57200" y="3172968"/>
            <a:ext cx="4096512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66928" y="320954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Edge-TTS Fallback + Dialogue Parser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617720" y="3172968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870448" y="3172968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123176" y="3172968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196328" y="3246120"/>
            <a:ext cx="106070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375904" y="3172968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628632" y="3172968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0881360" y="3172968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57200" y="3547872"/>
            <a:ext cx="4096512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66928" y="358444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Pollinations Image Generation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617720" y="3547872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870448" y="3547872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7123176" y="3547872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8375904" y="3547872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8449056" y="3621024"/>
            <a:ext cx="1060704" cy="2286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9628632" y="3547872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9701784" y="3621024"/>
            <a:ext cx="1060704" cy="2286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0881360" y="3547872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57200" y="3922776"/>
            <a:ext cx="4096512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66928" y="395935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Leaflet Sacred Map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617720" y="3922776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5870448" y="3922776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123176" y="3922776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8375904" y="3922776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449056" y="3995928"/>
            <a:ext cx="1060704" cy="2286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9628632" y="3922776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10881360" y="3922776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457200" y="4297680"/>
            <a:ext cx="4096512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566928" y="4334256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Archetype Quiz &amp; XP/Badge Engine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617720" y="4297680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5870448" y="4297680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7123176" y="4297680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8375904" y="4297680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9628632" y="4297680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9701784" y="4370832"/>
            <a:ext cx="1060704" cy="228600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10881360" y="4297680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457200" y="4672584"/>
            <a:ext cx="4096512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566928" y="470916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Chapter Reader (Novel + Webtoon UI)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617720" y="4672584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5870448" y="4672584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7123176" y="4672584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8375904" y="4672584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8449056" y="4745736"/>
            <a:ext cx="1060704" cy="228600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9628632" y="4672584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9701784" y="4745736"/>
            <a:ext cx="1060704" cy="228600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10881360" y="4672584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457200" y="5047488"/>
            <a:ext cx="4096512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566928" y="508406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Profile &amp; Achievements Pages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617720" y="5047488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5870448" y="5047488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7123176" y="5047488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8375904" y="5047488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9628632" y="5047488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9701784" y="5120640"/>
            <a:ext cx="1060704" cy="228600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10881360" y="5047488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>
            <a:off x="457200" y="5422392"/>
            <a:ext cx="4096512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566928" y="545896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Docker + Render + Vercel Deploy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4617720" y="542239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5870448" y="542239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7123176" y="542239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8375904" y="542239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9628632" y="542239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5" name="Shape 123"/>
          <p:cNvSpPr/>
          <p:nvPr/>
        </p:nvSpPr>
        <p:spPr>
          <a:xfrm>
            <a:off x="10881360" y="5422392"/>
            <a:ext cx="1207008" cy="37490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10954512" y="5495544"/>
            <a:ext cx="1060704" cy="228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457200" y="5797296"/>
            <a:ext cx="4096512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566928" y="583387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FE0"/>
                </a:solidFill>
              </a:rPr>
              <a:t>Gen Z Content + Bug Fixes (v1.1)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4617720" y="579729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5870448" y="579729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31" name="Shape 129"/>
          <p:cNvSpPr/>
          <p:nvPr/>
        </p:nvSpPr>
        <p:spPr>
          <a:xfrm>
            <a:off x="7123176" y="579729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32" name="Shape 130"/>
          <p:cNvSpPr/>
          <p:nvPr/>
        </p:nvSpPr>
        <p:spPr>
          <a:xfrm>
            <a:off x="8375904" y="579729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33" name="Shape 131"/>
          <p:cNvSpPr/>
          <p:nvPr/>
        </p:nvSpPr>
        <p:spPr>
          <a:xfrm>
            <a:off x="9628632" y="579729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34" name="Shape 132"/>
          <p:cNvSpPr/>
          <p:nvPr/>
        </p:nvSpPr>
        <p:spPr>
          <a:xfrm>
            <a:off x="10881360" y="5797296"/>
            <a:ext cx="1207008" cy="374904"/>
          </a:xfrm>
          <a:prstGeom prst="rect">
            <a:avLst/>
          </a:prstGeom>
          <a:solidFill>
            <a:srgbClr val="1A1410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35" name="Shape 133"/>
          <p:cNvSpPr/>
          <p:nvPr/>
        </p:nvSpPr>
        <p:spPr>
          <a:xfrm>
            <a:off x="10954512" y="5870448"/>
            <a:ext cx="1060704" cy="228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30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457200" y="6318504"/>
            <a:ext cx="201168" cy="14630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13232" y="6300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Sprint 1–2: Foundation + AI Audio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3364992" y="6318504"/>
            <a:ext cx="201168" cy="146304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621024" y="6300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Sprint 3: Visual + Map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6272784" y="6318504"/>
            <a:ext cx="201168" cy="146304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528816" y="6300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Sprint 4: Gamification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9180576" y="6318504"/>
            <a:ext cx="201168" cy="1463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9436608" y="6300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Sprint 5: Deploy</a:t>
            </a:r>
            <a:endParaRPr lang="en-US" sz="950" dirty="0"/>
          </a:p>
        </p:txBody>
      </p:sp>
      <p:sp>
        <p:nvSpPr>
          <p:cNvPr id="144" name="Text 142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1901952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06  ARCHITECTURE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System Architecture &amp; Data Flow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3-Tier client-server + AI services layer + Docker-containerized deployment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1247120" cy="1078992"/>
          </a:xfrm>
          <a:prstGeom prst="rect">
            <a:avLst/>
          </a:prstGeom>
          <a:solidFill>
            <a:srgbClr val="0F1A2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353312"/>
            <a:ext cx="3291840" cy="246888"/>
          </a:xfrm>
          <a:prstGeom prst="roundRect">
            <a:avLst/>
          </a:prstGeom>
          <a:solidFill>
            <a:srgbClr val="60A5FA">
              <a:alpha val="18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35331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</a:rPr>
              <a:t>TIER 1 — FRONTEND · Vercel CDN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" y="1627632"/>
            <a:ext cx="1298448" cy="62179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62763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Home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48256" y="1627632"/>
            <a:ext cx="1298448" cy="62179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48256" y="162763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ChapterReader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38144" y="1627632"/>
            <a:ext cx="1298448" cy="62179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38144" y="162763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ReelsPage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28032" y="1627632"/>
            <a:ext cx="1298448" cy="62179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28032" y="162763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MapPage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627632"/>
            <a:ext cx="1298448" cy="62179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162763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SceneViewer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07808" y="1627632"/>
            <a:ext cx="1298448" cy="62179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07808" y="162763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ArchetypeQuiz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97696" y="1627632"/>
            <a:ext cx="1298448" cy="62179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97696" y="162763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ProfilePage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387584" y="1627632"/>
            <a:ext cx="1298448" cy="62179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387584" y="1627632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</a:rPr>
              <a:t>ExplorePage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2377440"/>
            <a:ext cx="0" cy="320040"/>
          </a:xfrm>
          <a:prstGeom prst="line">
            <a:avLst/>
          </a:prstGeom>
          <a:noFill/>
          <a:ln w="15240">
            <a:solidFill>
              <a:srgbClr val="9A8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414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REST API + JWT Bearer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697480"/>
            <a:ext cx="11247120" cy="1207008"/>
          </a:xfrm>
          <a:prstGeom prst="rect">
            <a:avLst/>
          </a:prstGeom>
          <a:solidFill>
            <a:srgbClr val="0F1F1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2743200"/>
            <a:ext cx="5303520" cy="246888"/>
          </a:xfrm>
          <a:prstGeom prst="roundRect">
            <a:avLst/>
          </a:prstGeom>
          <a:solidFill>
            <a:srgbClr val="22C55E">
              <a:alpha val="18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274320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TIER 2 — FASTAPI BACKEND · Render.com + Docker (ffmpeg included)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58368" y="3017520"/>
            <a:ext cx="1755648" cy="7772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users.py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Auth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05456" y="3017520"/>
            <a:ext cx="1755648" cy="7772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05456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stories.py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CRUD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52544" y="3017520"/>
            <a:ext cx="1755648" cy="7772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352544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chapters.py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Scenes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3017520"/>
            <a:ext cx="1755648" cy="7772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99632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audio.py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Narration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46720" y="3017520"/>
            <a:ext cx="1755648" cy="7772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046720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scenes.py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AI Gen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893808" y="3017520"/>
            <a:ext cx="1755648" cy="77724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893808" y="3017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debug.py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Seed Data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17520" y="3904488"/>
            <a:ext cx="0" cy="320040"/>
          </a:xfrm>
          <a:prstGeom prst="line">
            <a:avLst/>
          </a:prstGeom>
          <a:noFill/>
          <a:ln w="15240">
            <a:solidFill>
              <a:srgbClr val="9A8A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80760" y="3904488"/>
            <a:ext cx="0" cy="320040"/>
          </a:xfrm>
          <a:prstGeom prst="line">
            <a:avLst/>
          </a:prstGeom>
          <a:noFill/>
          <a:ln w="15240">
            <a:solidFill>
              <a:srgbClr val="9A8A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0" y="3904488"/>
            <a:ext cx="0" cy="320040"/>
          </a:xfrm>
          <a:prstGeom prst="line">
            <a:avLst/>
          </a:prstGeom>
          <a:noFill/>
          <a:ln w="15240">
            <a:solidFill>
              <a:srgbClr val="9A8A7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224528"/>
            <a:ext cx="5166360" cy="1115568"/>
          </a:xfrm>
          <a:prstGeom prst="rect">
            <a:avLst/>
          </a:prstGeom>
          <a:solidFill>
            <a:srgbClr val="0F0F1F"/>
          </a:solidFill>
          <a:ln w="19050">
            <a:solidFill>
              <a:srgbClr val="F9B2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4270248"/>
            <a:ext cx="3840480" cy="246888"/>
          </a:xfrm>
          <a:prstGeom prst="roundRect">
            <a:avLst/>
          </a:prstGeom>
          <a:solidFill>
            <a:srgbClr val="F9B233">
              <a:alpha val="18000"/>
            </a:srgbClr>
          </a:solidFill>
          <a:ln w="9525">
            <a:solidFill>
              <a:srgbClr val="F9B2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427024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B233"/>
                </a:solidFill>
              </a:rPr>
              <a:t>TIER 3 — DATABASE · SQLite → PostgreSQL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4360" y="4544568"/>
            <a:ext cx="731520" cy="65836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94360" y="454456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B233"/>
                </a:solidFill>
              </a:rPr>
              <a:t>USER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399032" y="4544568"/>
            <a:ext cx="731520" cy="65836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399032" y="454456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B233"/>
                </a:solidFill>
              </a:rPr>
              <a:t>STORY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03704" y="4544568"/>
            <a:ext cx="731520" cy="65836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203704" y="454456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B233"/>
                </a:solidFill>
              </a:rPr>
              <a:t>CHAPTER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008376" y="4544568"/>
            <a:ext cx="731520" cy="65836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008376" y="454456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B233"/>
                </a:solidFill>
              </a:rPr>
              <a:t>SCENE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813048" y="4544568"/>
            <a:ext cx="731520" cy="65836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813048" y="454456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B233"/>
                </a:solidFill>
              </a:rPr>
              <a:t>BADGE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17720" y="4544568"/>
            <a:ext cx="731520" cy="65836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17720" y="454456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B233"/>
                </a:solidFill>
              </a:rPr>
              <a:t>LOCATION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742432" y="4224528"/>
            <a:ext cx="0" cy="1115568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33872" y="4224528"/>
            <a:ext cx="5870448" cy="1115568"/>
          </a:xfrm>
          <a:prstGeom prst="rect">
            <a:avLst/>
          </a:prstGeom>
          <a:solidFill>
            <a:srgbClr val="1F100F"/>
          </a:solidFill>
          <a:ln w="19050">
            <a:solidFill>
              <a:srgbClr val="EC6D1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943600" y="4270248"/>
            <a:ext cx="2011680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0" y="42702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AI SERVICES LAYER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961888" y="4544568"/>
            <a:ext cx="1335024" cy="65836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5961888" y="4544568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6D13"/>
                </a:solidFill>
              </a:rPr>
              <a:t>ElevenLabs 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C6D13"/>
                </a:solidFill>
              </a:rPr>
              <a:t>TTS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61888" y="494690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A7A"/>
                </a:solidFill>
              </a:rPr>
              <a:t>Primary narration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388352" y="4544568"/>
            <a:ext cx="1335024" cy="65836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388352" y="4544568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6D13"/>
                </a:solidFill>
              </a:rPr>
              <a:t>Edge-TTS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C6D13"/>
                </a:solidFill>
              </a:rPr>
              <a:t>Fallback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388352" y="494690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A7A"/>
                </a:solidFill>
              </a:rPr>
              <a:t>Zero-cost local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814816" y="4544568"/>
            <a:ext cx="1335024" cy="65836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8814816" y="4544568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6D13"/>
                </a:solidFill>
              </a:rPr>
              <a:t>Pollinations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C6D13"/>
                </a:solidFill>
              </a:rPr>
              <a:t>Flux AI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814816" y="494690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A7A"/>
                </a:solidFill>
              </a:rPr>
              <a:t>Image gen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0241280" y="4544568"/>
            <a:ext cx="1335024" cy="65836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10241280" y="4544568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6D13"/>
                </a:solidFill>
              </a:rPr>
              <a:t>Pydub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C6D13"/>
                </a:solidFill>
              </a:rPr>
              <a:t>+ FFmpeg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241280" y="494690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A7A"/>
                </a:solidFill>
              </a:rPr>
              <a:t>Audio concat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57200" y="5440680"/>
            <a:ext cx="11247120" cy="347472"/>
          </a:xfrm>
          <a:prstGeom prst="rect">
            <a:avLst/>
          </a:prstGeom>
          <a:solidFill>
            <a:srgbClr val="261C15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4360" y="54589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🐳  Docker (apt-get ffmpeg)  ·  apt-get gcc  ·  Multi-stage build  →  ☁️  Render.com Web Service (Docker runtime)  →  ▲  Vercel CDN (SPA rewrites)  ·  Nginx reverse proxy  ·  CORS middleware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57200" y="5870448"/>
            <a:ext cx="11247120" cy="86868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57200" y="5870448"/>
            <a:ext cx="45720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4360" y="5943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🐳  Why Docker is Non-Negotiable: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594360" y="619048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Standard Render Python buildpacks do NOT include ffmpeg. Our Dockerfile explicitly runs apt-get install ffmpeg — without this, all AI audio generation crashes. Docker also guarantees identical dev/prod environments and one-command local stack launch (docker-compose up --build).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1805940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805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07  AI PIPELINE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Multi-Modal AI Content Generation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ElevenLabs  ·  Edge-TTS  ·  Pollinations Flux  ·  9 Rasa Emotion Moods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6D13"/>
                </a:solidFill>
              </a:rPr>
              <a:t>🎙️  Audio Generation Pipeline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02336" cy="40233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185416"/>
            <a:ext cx="0" cy="374904"/>
          </a:xfrm>
          <a:prstGeom prst="line">
            <a:avLst/>
          </a:prstGeom>
          <a:noFill/>
          <a:ln w="15240">
            <a:solidFill>
              <a:srgbClr val="3A2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719072"/>
            <a:ext cx="5029200" cy="69494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15568" y="178308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Raw scene text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5568" y="204825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raw_text from SCENE table in SQLite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402336" cy="40233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2980944"/>
            <a:ext cx="0" cy="374904"/>
          </a:xfrm>
          <a:prstGeom prst="line">
            <a:avLst/>
          </a:prstGeom>
          <a:noFill/>
          <a:ln w="15240">
            <a:solidFill>
              <a:srgbClr val="3A2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2514600"/>
            <a:ext cx="5029200" cy="69494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15568" y="2578608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Dialogue parser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" y="284378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Regex: 'Speaker: text', quoted speech, natural lang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74136"/>
            <a:ext cx="402336" cy="402336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87552" y="3310128"/>
            <a:ext cx="5029200" cy="69494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15568" y="3374136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ElevenLabs v2 (primary)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5568" y="363931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Rasa emotion → stability/clarity settings per character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69664"/>
            <a:ext cx="402336" cy="402336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4572000"/>
            <a:ext cx="0" cy="374904"/>
          </a:xfrm>
          <a:prstGeom prst="line">
            <a:avLst/>
          </a:prstGeom>
          <a:noFill/>
          <a:ln w="15240">
            <a:solidFill>
              <a:srgbClr val="3A2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4105656"/>
            <a:ext cx="5029200" cy="69494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15568" y="4169664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Edge-TTS (fallback)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15568" y="443484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Local synthesis — zero API cost, &lt;200ms latency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965192"/>
            <a:ext cx="402336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" y="5367528"/>
            <a:ext cx="0" cy="374904"/>
          </a:xfrm>
          <a:prstGeom prst="line">
            <a:avLst/>
          </a:prstGeom>
          <a:noFill/>
          <a:ln w="15240">
            <a:solidFill>
              <a:srgbClr val="3A2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7552" y="4901184"/>
            <a:ext cx="5029200" cy="69494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15568" y="496519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Pydub + FFmpeg concat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15568" y="523036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Segment stitching, decibel normalisation, MP3 export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760720"/>
            <a:ext cx="402336" cy="402336"/>
          </a:xfrm>
          <a:prstGeom prst="ellipse">
            <a:avLst/>
          </a:prstGeom>
          <a:solidFill>
            <a:srgbClr val="9A8A7A"/>
          </a:solidFill>
          <a:ln w="12700">
            <a:solidFill>
              <a:srgbClr val="9A8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760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87552" y="5696712"/>
            <a:ext cx="5029200" cy="69494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115568" y="576072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static/audio/{id}.mp3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15568" y="602589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Scene.ai_audio_url updated in DB, served via FastAPI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36792" y="1261872"/>
            <a:ext cx="0" cy="548640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129844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6D13"/>
                </a:solidFill>
              </a:rPr>
              <a:t>🎨  9 Rasa Emotion Moods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92240" y="1719072"/>
            <a:ext cx="1737360" cy="53035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92240" y="1719072"/>
            <a:ext cx="45720" cy="5303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1112" y="1755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Shringara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611112" y="20025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Love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321040" y="1719072"/>
            <a:ext cx="1737360" cy="53035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321040" y="1719072"/>
            <a:ext cx="45720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39912" y="1755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Hasya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439912" y="20025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Humor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149840" y="1719072"/>
            <a:ext cx="1737360" cy="53035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149840" y="1719072"/>
            <a:ext cx="45720" cy="5303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68712" y="1755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Karuna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0268712" y="20025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Sorrow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492240" y="2340864"/>
            <a:ext cx="1737360" cy="53035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92240" y="2340864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11112" y="2377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Raudra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611112" y="2624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Fury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21040" y="2340864"/>
            <a:ext cx="1737360" cy="53035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321040" y="2340864"/>
            <a:ext cx="45720" cy="530352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39912" y="2377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Veera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439912" y="2624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Heroism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149840" y="2340864"/>
            <a:ext cx="1737360" cy="53035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0149840" y="2340864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68712" y="2377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Bhayanaka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10268712" y="2624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Fear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92240" y="2962656"/>
            <a:ext cx="1737360" cy="53035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492240" y="2962656"/>
            <a:ext cx="45720" cy="5303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11112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Adbhuta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6611112" y="3246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Wonder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321040" y="2962656"/>
            <a:ext cx="1737360" cy="53035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321040" y="2962656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39912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Shanta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8439912" y="3246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Peace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149840" y="2962656"/>
            <a:ext cx="1737360" cy="53035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10149840" y="2962656"/>
            <a:ext cx="45720" cy="53035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268712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Bibhatsa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10268712" y="3246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Disgust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492240" y="4544568"/>
            <a:ext cx="5394960" cy="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92240" y="4617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6D13"/>
                </a:solidFill>
              </a:rPr>
              <a:t>🖼️  Image Pipeline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6492240" y="4956048"/>
            <a:ext cx="86868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492240" y="495604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Scene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reel_script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360920" y="5312664"/>
            <a:ext cx="73152" cy="0"/>
          </a:xfrm>
          <a:prstGeom prst="line">
            <a:avLst/>
          </a:prstGeom>
          <a:noFill/>
          <a:ln w="15240">
            <a:solidFill>
              <a:srgbClr val="EC6D1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34072" y="4956048"/>
            <a:ext cx="86868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7434072" y="495604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+ Rasa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modifier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302752" y="5312664"/>
            <a:ext cx="73152" cy="0"/>
          </a:xfrm>
          <a:prstGeom prst="line">
            <a:avLst/>
          </a:prstGeom>
          <a:noFill/>
          <a:ln w="15240">
            <a:solidFill>
              <a:srgbClr val="EC6D1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375904" y="4956048"/>
            <a:ext cx="86868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8375904" y="495604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+ Cultural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keywords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9244584" y="5312664"/>
            <a:ext cx="73152" cy="0"/>
          </a:xfrm>
          <a:prstGeom prst="line">
            <a:avLst/>
          </a:prstGeom>
          <a:noFill/>
          <a:ln w="15240">
            <a:solidFill>
              <a:srgbClr val="EC6D1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317736" y="4956048"/>
            <a:ext cx="86868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9317736" y="495604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Pollinations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Flux API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0186416" y="5312664"/>
            <a:ext cx="73152" cy="0"/>
          </a:xfrm>
          <a:prstGeom prst="line">
            <a:avLst/>
          </a:prstGeom>
          <a:noFill/>
          <a:ln w="15240">
            <a:solidFill>
              <a:srgbClr val="EC6D1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259568" y="4956048"/>
            <a:ext cx="86868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10259568" y="495604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Save 9:16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JPEG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11128248" y="5312664"/>
            <a:ext cx="73152" cy="0"/>
          </a:xfrm>
          <a:prstGeom prst="line">
            <a:avLst/>
          </a:prstGeom>
          <a:noFill/>
          <a:ln w="15240">
            <a:solidFill>
              <a:srgbClr val="EC6D1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201400" y="4956048"/>
            <a:ext cx="86868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11201400" y="495604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FE0"/>
                </a:solidFill>
              </a:rPr>
              <a:t>update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492240" y="5779008"/>
            <a:ext cx="5394960" cy="50292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6629400" y="5824728"/>
            <a:ext cx="5120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🛡️  Content Safety: Keyword validation rejects anachronistic or disrespectful prompts. Cultural context keywords required in every generation request.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189988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1899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08  DATABASE DESIGN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Entity-Relationship Schema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SQLModel ORM  ·  8 entities  ·  Full FK relationships  ·  SQLite → PostgreSQL migration path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834640" cy="32918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2834640" cy="21762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B233"/>
                </a:solidFill>
              </a:rPr>
              <a:t>🔑 id PK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984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name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email UNIQUE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password_hash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889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total_xp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191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streak_days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493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archetype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93008" y="1298448"/>
            <a:ext cx="283464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1298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93008" y="1627632"/>
            <a:ext cx="2834640" cy="1865376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84448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B233"/>
                </a:solidFill>
              </a:rPr>
              <a:t>🔑 id PK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84448" y="1984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title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84448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slug UNIQUE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84448" y="2587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category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84448" y="2889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cover_image_url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84448" y="3191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total_chapters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28816" y="1298448"/>
            <a:ext cx="2834640" cy="329184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1298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CHAPTER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28816" y="1627632"/>
            <a:ext cx="2834640" cy="1865376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20256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B233"/>
                </a:solidFill>
              </a:rPr>
              <a:t>🔑 id PK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20256" y="1984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</a:rPr>
              <a:t>🔗 story_id FK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20256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index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20256" y="2587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title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20256" y="2889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short_summary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20256" y="3191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cover_image_url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564624" y="1298448"/>
            <a:ext cx="2834640" cy="329184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64624" y="1298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SCENE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564624" y="1627632"/>
            <a:ext cx="2834640" cy="1865376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656064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B233"/>
                </a:solidFill>
              </a:rPr>
              <a:t>🔑 id PK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656064" y="1984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</a:rPr>
              <a:t>🔗 chapter_id FK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656064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raw_text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656064" y="2587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ai_emotion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656064" y="2889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ai_audio_url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656064" y="3191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ai_video_url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315968"/>
            <a:ext cx="2834640" cy="32918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315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USER_SCENE_PROGRESS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4645152"/>
            <a:ext cx="2834640" cy="1865376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48640" y="4700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B233"/>
                </a:solidFill>
              </a:rPr>
              <a:t>🔑 id PK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8640" y="5001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</a:rPr>
              <a:t>🔗 user_id FK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5303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</a:rPr>
              <a:t>🔗 scene_id FK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8640" y="5605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completed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8640" y="5907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xp_earned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" y="6208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completed_at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93008" y="4315968"/>
            <a:ext cx="283464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93008" y="4315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BADGE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493008" y="4645152"/>
            <a:ext cx="2834640" cy="1865376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584448" y="4700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B233"/>
                </a:solidFill>
              </a:rPr>
              <a:t>🔑 id PK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584448" y="5001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code UNIQUE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584448" y="5303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name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84448" y="5605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description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584448" y="5907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icon_url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584448" y="6208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unlock_condition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528816" y="4315968"/>
            <a:ext cx="2834640" cy="329184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28816" y="4315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USER_BADGE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528816" y="4645152"/>
            <a:ext cx="2834640" cy="124358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620256" y="4700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B233"/>
                </a:solidFill>
              </a:rPr>
              <a:t>🔑 id PK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620256" y="5001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</a:rPr>
              <a:t>🔗 user_id FK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620256" y="5303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</a:rPr>
              <a:t>🔗 badge_id FK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620256" y="5605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earned_at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564624" y="4315968"/>
            <a:ext cx="2834640" cy="329184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564624" y="4315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LOCATION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564624" y="4645152"/>
            <a:ext cx="2834640" cy="21762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656064" y="4700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B233"/>
                </a:solidFill>
              </a:rPr>
              <a:t>🔑 id PK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656064" y="5001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name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656064" y="5303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description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9656064" y="5605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lat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656064" y="5907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lon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656064" y="6208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epoch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656064" y="6510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era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291840" y="2468880"/>
            <a:ext cx="201168" cy="0"/>
          </a:xfrm>
          <a:prstGeom prst="line">
            <a:avLst/>
          </a:prstGeom>
          <a:noFill/>
          <a:ln w="9525">
            <a:solidFill>
              <a:srgbClr val="EC6D1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0" y="2331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6D13"/>
                </a:solidFill>
              </a:rPr>
              <a:t>1:N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327648" y="2468880"/>
            <a:ext cx="201168" cy="0"/>
          </a:xfrm>
          <a:prstGeom prst="line">
            <a:avLst/>
          </a:prstGeom>
          <a:noFill/>
          <a:ln w="9525">
            <a:solidFill>
              <a:srgbClr val="EC6D1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91840" y="5486400"/>
            <a:ext cx="201168" cy="0"/>
          </a:xfrm>
          <a:prstGeom prst="line">
            <a:avLst/>
          </a:prstGeom>
          <a:noFill/>
          <a:ln w="9525">
            <a:solidFill>
              <a:srgbClr val="EC6D1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27648" y="5486400"/>
            <a:ext cx="201168" cy="0"/>
          </a:xfrm>
          <a:prstGeom prst="line">
            <a:avLst/>
          </a:prstGeom>
          <a:noFill/>
          <a:ln w="9525">
            <a:solidFill>
              <a:srgbClr val="EC6D1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7200" y="6510528"/>
            <a:ext cx="11247120" cy="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65562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🔑 PK · 🔗 FK   Relationships: USER →(1:N) USER_SCENE_PROGRESS ←(N:1) SCENE · USER →(1:N) USER_BADGE ←(N:1) BADGE · STORY →(1:N) CHAPTER →(1:N) SCENE   |   Migration path: SQLite → PostgreSQL via DATABASE_URL env var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1901952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09  UI/UX DESIGN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Design Language &amp; Philosophy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Mobile-first · Glassmorphism · Saffron palette · Novel + Webtoon hybrid reader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6D13"/>
                </a:solidFill>
              </a:rPr>
              <a:t>Colour Palette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298448" cy="658368"/>
          </a:xfrm>
          <a:prstGeom prst="rect">
            <a:avLst/>
          </a:prstGeom>
          <a:solidFill>
            <a:srgbClr val="EC6D13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A7A"/>
                </a:solidFill>
              </a:rPr>
              <a:t>#EC6D13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4963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0"/>
                </a:solidFill>
              </a:rPr>
              <a:t>Saffron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7919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8A7A"/>
                </a:solidFill>
              </a:rPr>
              <a:t>Primary action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47088" y="1645920"/>
            <a:ext cx="1298448" cy="658368"/>
          </a:xfrm>
          <a:prstGeom prst="rect">
            <a:avLst/>
          </a:prstGeom>
          <a:solidFill>
            <a:srgbClr val="1A1410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7088" y="23317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A7A"/>
                </a:solidFill>
              </a:rPr>
              <a:t>#1A1410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47088" y="24963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0"/>
                </a:solidFill>
              </a:rPr>
              <a:t>Dark Earth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47088" y="267919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8A7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36976" y="1645920"/>
            <a:ext cx="1298448" cy="658368"/>
          </a:xfrm>
          <a:prstGeom prst="rect">
            <a:avLst/>
          </a:prstGeom>
          <a:solidFill>
            <a:srgbClr val="F9B233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36976" y="23317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A7A"/>
                </a:solidFill>
              </a:rPr>
              <a:t>#F9B233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36976" y="24963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0"/>
                </a:solidFill>
              </a:rPr>
              <a:t>Amber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36976" y="267919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8A7A"/>
                </a:solidFill>
              </a:rPr>
              <a:t>Secondary accent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26864" y="1645920"/>
            <a:ext cx="1298448" cy="658368"/>
          </a:xfrm>
          <a:prstGeom prst="rect">
            <a:avLst/>
          </a:prstGeom>
          <a:solidFill>
            <a:srgbClr val="F5EFE0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23317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A7A"/>
                </a:solidFill>
              </a:rPr>
              <a:t>#F5EFE0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6864" y="24963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0"/>
                </a:solidFill>
              </a:rPr>
              <a:t>Sand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26864" y="267919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8A7A"/>
                </a:solidFill>
              </a:rPr>
              <a:t>Text/Content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16752" y="1645920"/>
            <a:ext cx="1298448" cy="658368"/>
          </a:xfrm>
          <a:prstGeom prst="rect">
            <a:avLst/>
          </a:prstGeom>
          <a:solidFill>
            <a:srgbClr val="261C15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23317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A7A"/>
                </a:solidFill>
              </a:rPr>
              <a:t>#261C15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16752" y="24963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0"/>
                </a:solidFill>
              </a:rPr>
              <a:t>Earth Mid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6752" y="267919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8A7A"/>
                </a:solidFill>
              </a:rPr>
              <a:t>Cards/Surfaces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2944368"/>
            <a:ext cx="11247120" cy="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6D13"/>
                </a:solidFill>
              </a:rPr>
              <a:t>Typography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364992"/>
            <a:ext cx="3438144" cy="62179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341985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Newsreader (Serif)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367588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Display / Chapter headers — editorial gravitas, cultural heritage feel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0" y="3364992"/>
            <a:ext cx="3438144" cy="62179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51960" y="341985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Noto Sans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51960" y="367588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Body / UI text — pan-language support including Devanagari script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863840" y="1261872"/>
            <a:ext cx="0" cy="544068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1298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6D13"/>
                </a:solidFill>
              </a:rPr>
              <a:t>Core UX Principles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046720" y="1664208"/>
            <a:ext cx="3931920" cy="8229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138160" y="1709928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668512" y="1755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Mobile-First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68512" y="20208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320px min · safe-area insets · 44px tap targets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46720" y="2587752"/>
            <a:ext cx="3931920" cy="8229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138160" y="2633472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8668512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Novel + Webtoon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668512" y="2944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Drop-caps · full-bleed AI images · vertical scroll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46720" y="3511296"/>
            <a:ext cx="3931920" cy="8229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138160" y="3557016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8668512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Framer Motion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668512" y="3867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Spring physics · shared layoutId · enter/exit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46720" y="4434840"/>
            <a:ext cx="3931920" cy="8229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138160" y="4480560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8668512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Glassmorphism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668512" y="4791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bg-white/5 + backdrop-blur · ambient glow blobs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46720" y="5358384"/>
            <a:ext cx="3931920" cy="8229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138160" y="5404104"/>
            <a:ext cx="438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8668512" y="5449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0"/>
                </a:solidFill>
              </a:rPr>
              <a:t>Bilingual UI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668512" y="5715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Hindi + English throughout · cultural authenticity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4069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6D13"/>
                </a:solidFill>
              </a:rPr>
              <a:t>Key Animation Techniques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57200" y="4407408"/>
            <a:ext cx="3438144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94360" y="447141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FE0"/>
                </a:solidFill>
              </a:rPr>
              <a:t>Page entry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94360" y="472744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opacity 0→1  y: 20→0  duration 0.8s ease-out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114800" y="4407408"/>
            <a:ext cx="3438144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251960" y="447141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FE0"/>
                </a:solidFill>
              </a:rPr>
              <a:t>Bottom nav active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251960" y="472744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shared layoutId pill  spring stiffness:500 damping:35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5303520"/>
            <a:ext cx="3438144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594360" y="536752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FE0"/>
                </a:solidFill>
              </a:rPr>
              <a:t>Badge reveal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94360" y="562356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scale 0.8→1.1→1.0 with bounce spring physics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114800" y="5303520"/>
            <a:ext cx="3438144" cy="8046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251960" y="536752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FE0"/>
                </a:solidFill>
              </a:rPr>
              <a:t>Scroll progress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251960" y="562356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7A"/>
                </a:solidFill>
              </a:rPr>
              <a:t>useScroll + useSpring  chapter reading indicator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382012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3820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10  PLATFORM FEATURES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What Katha Can Do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Complete feature matrix across gamification, AI, UX, and cultural preservation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3749040" cy="420624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298448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🎮  RPG Gamification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3749040" cy="21762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892808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379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4 Archetypes via personality quiz (Warrior/Sage/Seeker/Guardian)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395728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408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XP system per scene + daily streak tracking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898648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43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20+ dynamic badges with unlock conditions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01568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467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Achievement celebration modal with spring animation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70832" y="1298448"/>
            <a:ext cx="3749040" cy="42062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1298448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🎙️  AI Audio Pipeline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70832" y="1719072"/>
            <a:ext cx="3749040" cy="21762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1892808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8379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ElevenLabs v2 Multilingual TTS — primary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53712" y="2395728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3408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9 Rasa emotion → audio parameter mappings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53712" y="2898648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843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Dialogue character voice parsing (3 regex modes)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53712" y="3401568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3467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Edge-TTS fallback + Pydub concat + FFmpeg normalise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84464" y="1298448"/>
            <a:ext cx="3749040" cy="420624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1298448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🎬  Visual AI Reels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84464" y="1719072"/>
            <a:ext cx="3749040" cy="21762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67344" y="1892808"/>
            <a:ext cx="100584" cy="100584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50224" y="18379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Pollinations Flux Realism — 9:16 mobile format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467344" y="2395728"/>
            <a:ext cx="100584" cy="100584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50224" y="23408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Emotion-enriched prompt engineering per Rasa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67344" y="2898648"/>
            <a:ext cx="100584" cy="100584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50224" y="2843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VideoModal: auto-detects image vs video format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467344" y="3401568"/>
            <a:ext cx="100584" cy="100584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50224" y="33467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Full-screen immersive view with play controls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4023360"/>
            <a:ext cx="374904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" y="4023360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🗺️  Sacred Map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7200" y="4443984"/>
            <a:ext cx="3749040" cy="21762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0080" y="461772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5628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Leaflet.js interactive dark CartoCD tile map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512064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50657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Real coordinates: Ayodhya, Kurukshetra, Lanka, Dwarka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080" y="562356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55686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Custom animated bounce marker icons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0080" y="612648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60716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Historical epoch + era metadata per location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370832" y="4023360"/>
            <a:ext cx="3749040" cy="42062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98848" y="4023360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📖  Chapter Reader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370832" y="4443984"/>
            <a:ext cx="3749040" cy="21762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53712" y="4617720"/>
            <a:ext cx="100584" cy="1005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36592" y="45628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Novel + Webtoon hybrid scroll format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53712" y="5120640"/>
            <a:ext cx="100584" cy="1005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50657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Drop-cap serif typography (Newsreader font)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53712" y="5623560"/>
            <a:ext cx="100584" cy="1005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55686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Floating audio control dock with seek bar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553712" y="6126480"/>
            <a:ext cx="100584" cy="1005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60716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Framer Motion useScroll progress indicator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284464" y="4023360"/>
            <a:ext cx="3749040" cy="4206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0" y="4023360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 Rishi AI Oracle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8284464" y="4443984"/>
            <a:ext cx="3749040" cy="217627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467344" y="4617720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50224" y="45628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In-scene AI cultural companion chatbot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467344" y="5120640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50224" y="50657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Symbolism &amp; philosophy Q&amp;A context-aware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467344" y="5623560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50224" y="55686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RasaPanel mood selector integration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467344" y="6126480"/>
            <a:ext cx="100584" cy="1005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50224" y="60716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898"/>
                </a:solidFill>
              </a:rPr>
              <a:t>SwipeHandler navigation between scenes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958084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9580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11  DEPLOYMENT ARCHITECTURE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Production Deployment Pipeline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Docker (ffmpeg)  ·  Render.com Blueprint  ·  Vercel CDN  ·  SQLite → PostgreSQL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423160" cy="102412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98448"/>
            <a:ext cx="242316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898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👤  End User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172821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Browser / Mobile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0360" y="1810512"/>
            <a:ext cx="640080" cy="0"/>
          </a:xfrm>
          <a:prstGeom prst="line">
            <a:avLst/>
          </a:prstGeom>
          <a:noFill/>
          <a:ln w="1524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6642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8A7A"/>
                </a:solidFill>
              </a:rPr>
              <a:t>HTTPS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063240" y="1298448"/>
            <a:ext cx="2423160" cy="102412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63240" y="1298448"/>
            <a:ext cx="24231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3898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▲  Vercel CDN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54680" y="172821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React + Vite SPA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SPA rewrites in vercel.json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1810512"/>
            <a:ext cx="640080" cy="0"/>
          </a:xfrm>
          <a:prstGeom prst="line">
            <a:avLst/>
          </a:prstGeom>
          <a:noFill/>
          <a:ln w="1524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6642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8A7A"/>
                </a:solidFill>
              </a:rPr>
              <a:t>REST API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69280" y="1298448"/>
            <a:ext cx="2423160" cy="102412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1298448"/>
            <a:ext cx="2423160" cy="54864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3898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🐳  Render.com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760720" y="172821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Docker Web 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apt-get ffmpeg 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92440" y="1810512"/>
            <a:ext cx="640080" cy="0"/>
          </a:xfrm>
          <a:prstGeom prst="line">
            <a:avLst/>
          </a:prstGeom>
          <a:noFill/>
          <a:ln w="15240">
            <a:solidFill>
              <a:srgbClr val="EC6D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16642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8A7A"/>
                </a:solidFill>
              </a:rPr>
              <a:t>SQL queries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275320" y="1298448"/>
            <a:ext cx="2423160" cy="102412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75320" y="1298448"/>
            <a:ext cx="2423160" cy="54864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13898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🗄️  Database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66760" y="172821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SQLite (dev)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PostgreSQL (prod)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92440" y="1810512"/>
            <a:ext cx="0" cy="685800"/>
          </a:xfrm>
          <a:prstGeom prst="line">
            <a:avLst/>
          </a:prstGeom>
          <a:noFill/>
          <a:ln w="15240">
            <a:solidFill>
              <a:srgbClr val="9A8A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2606040"/>
            <a:ext cx="2423160" cy="822960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0" y="2606040"/>
            <a:ext cx="242316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0"/>
                </a:solidFill>
              </a:rPr>
              <a:t>🤖  AI Services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60720" y="295351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ElevenLabs  ·  Pollinations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Edge-TTS  ·  FFmpeg (Docker)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584448"/>
            <a:ext cx="11247120" cy="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758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6D13"/>
                </a:solidFill>
              </a:rPr>
              <a:t>🚀  Render Backend Setup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" y="4096512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04164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1.  Push code to GitHub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4526280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447141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2.  Render Blueprint → connect repo → auto-detects render.yaml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4956048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49011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3.  Render builds Docker image (includes apt-get ffmpeg)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2920" y="5385816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" y="533095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4.  Set env vars: GEMINI_API_KEY, CORS_ORIGINS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5815584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57607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5.  Health check: /health → {status:'healthy', database:'connected'}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6245352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619048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6.  API docs live at: https://your-backend.onrender.com/docs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26480" y="3675888"/>
            <a:ext cx="0" cy="3127248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36758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▲  Vercel Frontend Setup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355080" y="409651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65392" y="404164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1.  Vercel → Add New Project → import GitHub repo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355080" y="452628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65392" y="447141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2.  Root Directory → set to frontend/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55080" y="4956048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65392" y="490118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3.  Framework preset → Vite (auto-detected)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355080" y="5385816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65392" y="533095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4.  Set VITE_API_BASE_URL = https://your-backend.onrender.com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355080" y="5815584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65392" y="57607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5.  Deploy → copy live URL → update Render CORS_ORIGINS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355080" y="624535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65392" y="619048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6.  SPA rewrites: /* → /index.html (in vercel.json)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510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B233"/>
                </a:solidFill>
              </a:rPr>
              <a:t>🗄️  DB Strategy: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2011680" y="651052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SQLite default (ephemeral on Render free tier)  ·  Add Render Persistent Disk for SQLite persistence  OR  provision Render PostgreSQL → set DATABASE_URL → auto-migrates via SQLModel  ·  Demo credentials: demo@katha.com / demo123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670048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12  RESULTS &amp; EVALUATION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Performance &amp; Scorecard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All target metrics met  ·  Investor/hackathon scorecard  ·  Feature completion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6D13"/>
                </a:solidFill>
              </a:rPr>
              <a:t>Performance Metrics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548640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64208"/>
            <a:ext cx="45720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099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69848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API Response (non-AI)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69848" y="1993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&lt; 150ms avg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892808"/>
            <a:ext cx="132588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1892808"/>
            <a:ext cx="132588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68880"/>
            <a:ext cx="548640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68880"/>
            <a:ext cx="45720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5146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69848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ElevenLabs Audio Gen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9848" y="27980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2.5–4.5s / segment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2697480"/>
            <a:ext cx="132588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697480"/>
            <a:ext cx="132588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73552"/>
            <a:ext cx="548640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73552"/>
            <a:ext cx="45720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31927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69848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Pollinations Image Gen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69848" y="36027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3–6s / image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3502152"/>
            <a:ext cx="132588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3502152"/>
            <a:ext cx="132588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78224"/>
            <a:ext cx="548640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078224"/>
            <a:ext cx="45720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12394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69848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Frontend Load (Vercel)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69848" y="4407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&lt; 1.2s (CDN cached)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34840" y="4306824"/>
            <a:ext cx="132588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4840" y="4306824"/>
            <a:ext cx="132588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882896"/>
            <a:ext cx="548640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882896"/>
            <a:ext cx="45720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92861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69848" y="4956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Mobile Responsive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69848" y="5212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375px – 1440px ✅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34840" y="5111496"/>
            <a:ext cx="132588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34840" y="5111496"/>
            <a:ext cx="132588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5687568"/>
            <a:ext cx="548640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5687568"/>
            <a:ext cx="45720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573328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069848" y="5760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JWT Auth Validation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69848" y="60167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A"/>
                </a:solidFill>
              </a:rPr>
              <a:t>&lt; 10ms ✅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34840" y="5916168"/>
            <a:ext cx="132588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34840" y="5916168"/>
            <a:ext cx="132588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1261872"/>
            <a:ext cx="0" cy="544068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12984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6D13"/>
                </a:solidFill>
              </a:rPr>
              <a:t>Hackathon / Investor Scorecard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6446520" y="1664208"/>
            <a:ext cx="539496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5836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Originality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58368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6D13"/>
                </a:solidFill>
              </a:rPr>
              <a:t>9/10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8503920" y="1892808"/>
            <a:ext cx="310896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03920" y="1892808"/>
            <a:ext cx="2798064" cy="20116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46520" y="2468880"/>
            <a:ext cx="539496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58368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Technical Depth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583680" y="2798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6D13"/>
                </a:solidFill>
              </a:rPr>
              <a:t>8.5/10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8503920" y="2697480"/>
            <a:ext cx="310896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03920" y="2697480"/>
            <a:ext cx="2642616" cy="20116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46520" y="3273552"/>
            <a:ext cx="539496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583680" y="3346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Design Thinking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6583680" y="3602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6D13"/>
                </a:solidFill>
              </a:rPr>
              <a:t>9/10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8503920" y="3502152"/>
            <a:ext cx="310896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03920" y="3502152"/>
            <a:ext cx="2798064" cy="20116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6520" y="4078224"/>
            <a:ext cx="539496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583680" y="4151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Demo Potential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6583680" y="4407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6D13"/>
                </a:solidFill>
              </a:rPr>
              <a:t>9.5/10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8503920" y="4306824"/>
            <a:ext cx="310896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03920" y="4306824"/>
            <a:ext cx="2953512" cy="20116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6520" y="4882896"/>
            <a:ext cx="539496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658368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Market Potential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6583680" y="5212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6D13"/>
                </a:solidFill>
              </a:rPr>
              <a:t>8/10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8503920" y="5111496"/>
            <a:ext cx="310896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03920" y="5111496"/>
            <a:ext cx="2487168" cy="20116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6520" y="5687568"/>
            <a:ext cx="5394960" cy="713232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58368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EFE0"/>
                </a:solidFill>
              </a:rPr>
              <a:t>Portfolio Value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6583680" y="6016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6D13"/>
                </a:solidFill>
              </a:rPr>
              <a:t>9/10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503920" y="5916168"/>
            <a:ext cx="3108960" cy="201168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03920" y="5916168"/>
            <a:ext cx="2798064" cy="20116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7200" y="6510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EFE0"/>
                </a:solidFill>
              </a:rPr>
              <a:t>Feature Status: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2286000" y="6510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Auth + JWT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3374136" y="6510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Story CRUD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4462272" y="6510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AI Audio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5550408" y="6510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AI Images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6638544" y="6510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Sacred Map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726680" y="6510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Gamification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8814816" y="6510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Docker Deploy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9902952" y="6510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B233"/>
                </a:solidFill>
              </a:rPr>
              <a:t>🔄 Rishi AI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10991088" y="6510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📋 SVD Videos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93976" cy="246888"/>
          </a:xfrm>
          <a:prstGeom prst="roundRect">
            <a:avLst/>
          </a:prstGeom>
          <a:solidFill>
            <a:srgbClr val="EC6D13">
              <a:alpha val="18000"/>
            </a:srgbClr>
          </a:solidFill>
          <a:ln w="9525">
            <a:solidFill>
              <a:srgbClr val="EC6D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6D13"/>
                </a:solidFill>
              </a:rPr>
              <a:t>13  FUTURE ROADMAP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0"/>
                </a:solidFill>
              </a:rPr>
              <a:t>Product Evolution — 3 Phases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8A7A"/>
                </a:solidFill>
              </a:rPr>
              <a:t>MVP → Advanced AI → Platform Scale → Venture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3749040" cy="5303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Phase 2  ·  3–6 months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Advanced 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3749040" cy="404164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011680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9568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Stable Video Diffusion — cinematic 4–6s scene clips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70048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61518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Celery + Redis async task queue (non-blocking AI)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27355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AWS S3 / Cloudflare R2 — cloud media storage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986784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9319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Hindi/Sanskrit neural translation + regional voices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645152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5902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React Native iOS + Android apps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03520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2486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PostgreSQL full migration + Redis caching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1298448"/>
            <a:ext cx="3749040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Phase 3  ·  6–12 months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462272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Platform Scale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70832" y="1828800"/>
            <a:ext cx="3749040" cy="404164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53712" y="2011680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9568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Full Rishi AI Oracle — LLM cultural Q&amp;A (context-aware)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53712" y="2670048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61518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Multiplayer cooperative reading quest lines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53712" y="3328416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27355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Creator marketplace — community storytellers submit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53712" y="3986784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9319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Teacher dashboard with classroom mode + analytics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53712" y="464515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5902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Offline PWA with service workers + IndexedDB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84464" y="1298448"/>
            <a:ext cx="3749040" cy="530352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75904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Phase 4  ·  12+ months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75904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Venture Scale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84464" y="1828800"/>
            <a:ext cx="3749040" cy="4041648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67344" y="2011680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68512" y="195681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WebXR / VR immersive mythology experiences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67344" y="2670048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68512" y="261518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UNESCO cultural preservation formal partnership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67344" y="3328416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68512" y="327355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Expand: Puranas, Panchatantra, regional folklore — 50+ texts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67344" y="3986784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68512" y="39319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AI-powered adaptive personalized narrative paths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67344" y="4645152"/>
            <a:ext cx="100584" cy="100584"/>
          </a:xfrm>
          <a:prstGeom prst="ellipse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68512" y="45902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98"/>
                </a:solidFill>
              </a:rPr>
              <a:t>Content licensing + premium publisher partnerships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080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FE0"/>
                </a:solidFill>
              </a:rPr>
              <a:t>Startup Evolution: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2560320" y="6080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Hackathon MVP ✅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937760" y="6080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A7A"/>
                </a:solidFill>
              </a:rPr>
              <a:t>→  Real Product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315200" y="6080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A7A"/>
                </a:solidFill>
              </a:rPr>
              <a:t>→  Consumer Platform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692640" y="6080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A7A"/>
                </a:solidFill>
              </a:rPr>
              <a:t>→  Venture Scale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3A2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8A7A"/>
                </a:solidFill>
              </a:rPr>
              <a:t>📄  Resume-ready: Built an AI-powered gamified cultural storytelling platform (React 18 + FastAPI + Docker) with ElevenLabs emotion narration, Pollinations Flux image gen, and a full RPG progression system deployed on Render + Vercel.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1612880" y="6601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A7A"/>
                </a:solidFill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EC6D13"/>
          </a:solidFill>
          <a:ln w="12700">
            <a:solidFill>
              <a:srgbClr val="EC6D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182880"/>
            <a:ext cx="667512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dirty="0">
                <a:solidFill>
                  <a:srgbClr val="261C15"/>
                </a:solidFill>
              </a:rPr>
              <a:t>ॐ</a:t>
            </a:r>
            <a:endParaRPr lang="en-US" sz="40000" dirty="0"/>
          </a:p>
        </p:txBody>
      </p:sp>
      <p:sp>
        <p:nvSpPr>
          <p:cNvPr id="5" name="Shape 3"/>
          <p:cNvSpPr/>
          <p:nvPr/>
        </p:nvSpPr>
        <p:spPr>
          <a:xfrm>
            <a:off x="804672" y="914400"/>
            <a:ext cx="45720" cy="5120640"/>
          </a:xfrm>
          <a:prstGeom prst="rect">
            <a:avLst/>
          </a:prstGeom>
          <a:solidFill>
            <a:srgbClr val="EC6D13">
              <a:alpha val="65000"/>
            </a:srgbClr>
          </a:solidFill>
          <a:ln w="12700">
            <a:solidFill>
              <a:srgbClr val="EC6D13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960120"/>
            <a:ext cx="9144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5EFE0"/>
                </a:solidFill>
              </a:rPr>
              <a:t>Katha is More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rgbClr val="F5EFE0"/>
                </a:solidFill>
              </a:rPr>
              <a:t>Than a Platform.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1005840" y="3200400"/>
            <a:ext cx="7315200" cy="0"/>
          </a:xfrm>
          <a:prstGeom prst="line">
            <a:avLst/>
          </a:prstGeom>
          <a:noFill/>
          <a:ln w="9525">
            <a:solidFill>
              <a:srgbClr val="EC6D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31012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A8A7A"/>
                </a:solidFill>
              </a:rPr>
              <a:t>It is a bridge between ancient wisdom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9A8A7A"/>
                </a:solidFill>
              </a:rPr>
              <a:t>and the digital generation.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4251960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EFE0"/>
                </a:solidFill>
              </a:rPr>
              <a:t>🏆  Originality 9/10 · Demo Potential 9.5/10 · Portfolio Value 9/10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764024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EFE0"/>
                </a:solidFill>
              </a:rPr>
              <a:t>🤖  End-to-end AI pipeline: ElevenLabs + Pollinations + Rasa moods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527608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EFE0"/>
                </a:solidFill>
              </a:rPr>
              <a:t>🐳  Production-ready: Docker (ffmpeg) + Render Blueprint + Vercel CDN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578815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EFE0"/>
                </a:solidFill>
              </a:rPr>
              <a:t>📱  Mobile-first PWA: 30+ components · 8 API routers · 5 Agile sprints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" y="6400800"/>
            <a:ext cx="9601200" cy="329184"/>
          </a:xfrm>
          <a:prstGeom prst="rect">
            <a:avLst/>
          </a:prstGeom>
          <a:solidFill>
            <a:srgbClr val="2E1F15"/>
          </a:solidFill>
          <a:ln w="9525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643737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7A"/>
                </a:solidFill>
              </a:rPr>
              <a:t>Shrishti Singh  ·  shrishtis089@gmail.com  ·  github.com/shru089  ·  linkedin.com/in/shrishti-singh-455566348  ·  CSMU, Navi Mumbai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674827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A7A"/>
                </a:solidFill>
              </a:rPr>
              <a:t>"Na jayate mriyate va kadacit"  —  It is never born, nor does it ever die.  —  Bhagavad Gita 2.20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Katha — Smart Cultural Storyteller</dc:title>
  <dc:subject>PptxGenJS Presentation</dc:subject>
  <dc:creator>Shrishti Singh</dc:creator>
  <cp:lastModifiedBy>Shrishti Singh</cp:lastModifiedBy>
  <cp:revision>1</cp:revision>
  <dcterms:created xsi:type="dcterms:W3CDTF">2026-05-18T02:35:00Z</dcterms:created>
  <dcterms:modified xsi:type="dcterms:W3CDTF">2026-05-18T02:35:00Z</dcterms:modified>
</cp:coreProperties>
</file>